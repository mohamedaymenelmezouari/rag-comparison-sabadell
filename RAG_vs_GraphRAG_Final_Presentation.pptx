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0" y="1371600"/>
            <a:ext cx="4572000" cy="4572000"/>
          </a:xfrm>
          <a:prstGeom prst="ellipse">
            <a:avLst/>
          </a:prstGeom>
          <a:solidFill>
            <a:srgbClr val="002560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2286000"/>
            <a:ext cx="3200400" cy="3200400"/>
          </a:xfrm>
          <a:prstGeom prst="ellipse">
            <a:avLst/>
          </a:prstGeom>
          <a:solidFill>
            <a:srgbClr val="00409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502920"/>
            <a:ext cx="2487168" cy="5670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0" y="1143000"/>
            <a:ext cx="5788152" cy="457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Traditional RAG  vs.  Graph RAG</a:t>
            </a:r>
          </a:p>
          <a:p>
            <a:pPr algn="ctr">
              <a:spcBef>
                <a:spcPts val="1400"/>
              </a:spcBef>
            </a:pPr>
            <a:r>
              <a:rPr sz="2000" b="0">
                <a:solidFill>
                  <a:srgbClr val="3B9EFF"/>
                </a:solidFill>
              </a:rPr>
              <a:t>Banking Regulatory Intelligence for Banc Sabadell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03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806440"/>
            <a:ext cx="12188952" cy="457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Mohamed Aymen Elmezouari  ·  Abhay Mathahalli  ·  Warren Liu</a:t>
            </a:r>
          </a:p>
          <a:p>
            <a:pPr algn="ctr">
              <a:spcBef>
                <a:spcPts val="400"/>
              </a:spcBef>
            </a:pPr>
            <a:r>
              <a:rPr sz="1000" b="0">
                <a:solidFill>
                  <a:srgbClr val="334155"/>
                </a:solidFill>
              </a:rPr>
              <a:t>ESADE Capstone 2026  |  Final Presentation  |  June 2026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Agenda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868680"/>
            <a:ext cx="5303520" cy="111556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50292" cy="111556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9418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6D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069848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 Business Challenge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258568"/>
            <a:ext cx="5303520" cy="111556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258568"/>
            <a:ext cx="50292" cy="111556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3317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6D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459736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is RAG?  Traditional vs.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648456"/>
            <a:ext cx="5303520" cy="111556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648456"/>
            <a:ext cx="50292" cy="111556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72160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6D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3849624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038344"/>
            <a:ext cx="5303520" cy="111556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5038344"/>
            <a:ext cx="50292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511149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5239512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Benchmark Results (75 queries)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868680"/>
            <a:ext cx="5303520" cy="111556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868680"/>
            <a:ext cx="50292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9418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1069848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 Key Insight: Accuracy by Tier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258568"/>
            <a:ext cx="5303520" cy="111556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258568"/>
            <a:ext cx="50292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23317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2459736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Recommendation: Hybrid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648456"/>
            <a:ext cx="5303520" cy="111556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648456"/>
            <a:ext cx="50292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72160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3849624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GDPR Compliance  +  Roadmap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038344"/>
            <a:ext cx="5303520" cy="111556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5038344"/>
            <a:ext cx="50292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511149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" y="5239512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GDPR Compliance  +  Roadmap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Business Challenge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49808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Banks manage thousands of pages of regulatory documents. Current systems fail on three critical fronts.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3657600" cy="416052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657600" cy="6400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3080" y="1691640"/>
            <a:ext cx="914400" cy="914400"/>
          </a:xfrm>
          <a:prstGeom prst="ellipse">
            <a:avLst/>
          </a:prstGeom>
          <a:solidFill>
            <a:srgbClr val="0B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6916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799F6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83464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Multi-hop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33101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Answering 'which products require both MiFID II suitability AND AML enhanced due diligence?' requires linking entities across frameworks. Vector search cannot do this reliably.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657600" cy="416052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6576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15000" y="1691640"/>
            <a:ext cx="914400" cy="914400"/>
          </a:xfrm>
          <a:prstGeom prst="ellipse">
            <a:avLst/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16916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83464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Hallucination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37560"/>
            <a:ext cx="33101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A fabricated regulatory citation in a compliance workflow constitutes a material risk. Systems that hallucinate answers are unacceptable in a banking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19" y="1417320"/>
            <a:ext cx="3657600" cy="416052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417320"/>
            <a:ext cx="36576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46919" y="1691640"/>
            <a:ext cx="914400" cy="914400"/>
          </a:xfrm>
          <a:prstGeom prst="ellipse">
            <a:avLst/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19" y="16916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283464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Audit Trails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3337560"/>
            <a:ext cx="33101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Regulators and compliance officers must be able to trace exactly how an answer was constructed. Black-box retrieval fails MiFID II explainability requirements.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is RAG?  Why Does Architecture Matter?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4980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Retrieval-Augmented Generation grounds language model answers in real documents, eliminating hallucination by design. The architecture of the retrieval step determines everything.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1920240" cy="685800"/>
          </a:xfrm>
          <a:prstGeom prst="roundRect">
            <a:avLst/>
          </a:prstGeom>
          <a:solidFill>
            <a:srgbClr val="0B192D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4155"/>
                </a:solidFill>
              </a:rPr>
              <a:t>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819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5768" y="1371600"/>
            <a:ext cx="1920240" cy="685800"/>
          </a:xfrm>
          <a:prstGeom prst="roundRect">
            <a:avLst/>
          </a:prstGeom>
          <a:solidFill>
            <a:srgbClr val="0F71CE"/>
          </a:solidFill>
          <a:ln w="1524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371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99F6"/>
                </a:solidFill>
              </a:rPr>
              <a:t>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5819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0056" y="1371600"/>
            <a:ext cx="1920240" cy="685800"/>
          </a:xfrm>
          <a:prstGeom prst="roundRect">
            <a:avLst/>
          </a:prstGeom>
          <a:solidFill>
            <a:srgbClr val="0F71CE"/>
          </a:solidFill>
          <a:ln w="1524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0056" y="1371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99F6"/>
                </a:solidFill>
              </a:rPr>
              <a:t>Augment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15819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4" y="1371600"/>
            <a:ext cx="1920240" cy="685800"/>
          </a:xfrm>
          <a:prstGeom prst="roundRect">
            <a:avLst/>
          </a:prstGeom>
          <a:solidFill>
            <a:srgbClr val="0F71CE"/>
          </a:solidFill>
          <a:ln w="1524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1371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99F6"/>
                </a:solidFill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15819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28632" y="1371600"/>
            <a:ext cx="1920240" cy="685800"/>
          </a:xfrm>
          <a:prstGeom prst="roundRect">
            <a:avLst/>
          </a:prstGeom>
          <a:solidFill>
            <a:srgbClr val="00915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1371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Answer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331720"/>
            <a:ext cx="11365992" cy="4572"/>
          </a:xfrm>
          <a:prstGeom prst="rect">
            <a:avLst/>
          </a:prstGeom>
          <a:solidFill>
            <a:srgbClr val="13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2514600"/>
            <a:ext cx="5623560" cy="3977639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514600"/>
            <a:ext cx="5623560" cy="59436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33472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99F6"/>
                </a:solidFill>
              </a:rPr>
              <a:t>Traditional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01752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Semantic Similarity · Vector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015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Embeds every chunk as a vector (all-MiniLM-L6-v2)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9684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Retrieves top-k chunks by cosine similarity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354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Passes chunks as flat context to the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02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Fast and simple to build and 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Cannot reason across entity relationships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2514600"/>
            <a:ext cx="5623560" cy="3977639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2514600"/>
            <a:ext cx="562356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633472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Graph RAG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01752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Structured Relationships · Graph Traversal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4015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Extracts entities and relationships from documents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9684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Builds a typed knowledge graph (Neo4j)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5354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Traverses the graph with Cypher queries at query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102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Provides auditable multi-hop reasoning paths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Significantly better on complex relational queries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Architecture: Traditional RAG Pipeline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92608" y="1554480"/>
            <a:ext cx="1389888" cy="914400"/>
          </a:xfrm>
          <a:prstGeom prst="roundRect">
            <a:avLst/>
          </a:prstGeom>
          <a:solidFill>
            <a:srgbClr val="000519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162763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</a:rPr>
              <a:t>PDF / 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2103120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Source
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784" y="19019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65376" y="1554480"/>
            <a:ext cx="1389888" cy="914400"/>
          </a:xfrm>
          <a:prstGeom prst="roundRect">
            <a:avLst/>
          </a:prstGeom>
          <a:solidFill>
            <a:srgbClr val="005DBA"/>
          </a:solidFill>
          <a:ln w="1905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5376" y="162763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99F6"/>
                </a:solidFill>
              </a:rPr>
              <a:t>PyMuPDF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5376" y="2103120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PDF
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19019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554480"/>
            <a:ext cx="1389888" cy="914400"/>
          </a:xfrm>
          <a:prstGeom prst="roundRect">
            <a:avLst/>
          </a:prstGeom>
          <a:solidFill>
            <a:srgbClr val="005DBA"/>
          </a:solidFill>
          <a:ln w="1905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162763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99F6"/>
                </a:solidFill>
              </a:rPr>
              <a:t>Chunking
500 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103120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Text
Splitting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19019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0912" y="1554480"/>
            <a:ext cx="1389888" cy="914400"/>
          </a:xfrm>
          <a:prstGeom prst="roundRect">
            <a:avLst/>
          </a:prstGeom>
          <a:solidFill>
            <a:srgbClr val="005DBA"/>
          </a:solidFill>
          <a:ln w="1905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162763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99F6"/>
                </a:solidFill>
              </a:rPr>
              <a:t>MiniLM
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2103120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Local
Embedding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9019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554480"/>
            <a:ext cx="1389888" cy="914400"/>
          </a:xfrm>
          <a:prstGeom prst="roundRect">
            <a:avLst/>
          </a:prstGeom>
          <a:solidFill>
            <a:srgbClr val="005DBA"/>
          </a:solidFill>
          <a:ln w="1905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2763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99F6"/>
                </a:solidFill>
              </a:rPr>
              <a:t>ChromaDB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103120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Vector
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1856" y="19019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1554480"/>
            <a:ext cx="1389888" cy="914400"/>
          </a:xfrm>
          <a:prstGeom prst="roundRect">
            <a:avLst/>
          </a:prstGeom>
          <a:solidFill>
            <a:srgbClr val="005DBA"/>
          </a:solidFill>
          <a:ln w="1905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162763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99F6"/>
                </a:solidFill>
              </a:rPr>
              <a:t>Top-k
Cosine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2103120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Retrieval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4624" y="19019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9216" y="1554480"/>
            <a:ext cx="1389888" cy="914400"/>
          </a:xfrm>
          <a:prstGeom prst="roundRect">
            <a:avLst/>
          </a:prstGeom>
          <a:solidFill>
            <a:srgbClr val="B9620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9216" y="162763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Groq
Llama 3.3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9216" y="2103120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27889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Key Design Decisions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3154680"/>
            <a:ext cx="5623560" cy="120700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3154680"/>
            <a:ext cx="50292" cy="120700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3246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99F6"/>
                </a:solidFill>
              </a:rPr>
              <a:t>ChromaDB (local)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3611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Full data locality — no regulatory text leaves the environment (GDPR)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572000"/>
            <a:ext cx="5623560" cy="120700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4572000"/>
            <a:ext cx="50292" cy="120700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99F6"/>
                </a:solidFill>
              </a:rPr>
              <a:t>all-MiniLM-L6-v2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" y="50292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Zero API cost, open-source, strong domain-general semantic performance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3154680"/>
            <a:ext cx="5623560" cy="120700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3154680"/>
            <a:ext cx="50292" cy="120700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3246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99F6"/>
                </a:solidFill>
              </a:rPr>
              <a:t>500-token chunks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3611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Calibrated to preserve full articles/sub-sections — maximises retrieval precision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4572000"/>
            <a:ext cx="5623560" cy="1207008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5080" y="4572000"/>
            <a:ext cx="50292" cy="120700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9672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99F6"/>
                </a:solidFill>
              </a:rPr>
              <a:t>Groq / Llama 3.3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9672" y="50292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Sub-2-second latency at 70B parameter scale — primary performance target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Architecture: Graph RAG Pipeline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92608" y="1508760"/>
            <a:ext cx="1389888" cy="914400"/>
          </a:xfrm>
          <a:prstGeom prst="roundRect">
            <a:avLst/>
          </a:prstGeom>
          <a:solidFill>
            <a:srgbClr val="000519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158191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</a:rPr>
              <a:t>PDF / 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207568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784" y="1856231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" y="1508760"/>
            <a:ext cx="1389888" cy="914400"/>
          </a:xfrm>
          <a:prstGeom prst="roundRect">
            <a:avLst/>
          </a:prstGeom>
          <a:solidFill>
            <a:srgbClr val="007D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3664" y="158191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spaCy 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07568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Entity
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56231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508760"/>
            <a:ext cx="1389888" cy="914400"/>
          </a:xfrm>
          <a:prstGeom prst="roundRect">
            <a:avLst/>
          </a:prstGeom>
          <a:solidFill>
            <a:srgbClr val="007D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8191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8 Entity
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07568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1856231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1508760"/>
            <a:ext cx="1389888" cy="914400"/>
          </a:xfrm>
          <a:prstGeom prst="roundRect">
            <a:avLst/>
          </a:prstGeom>
          <a:solidFill>
            <a:srgbClr val="007D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776" y="158191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Neo4j
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207568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1856231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56832" y="1508760"/>
            <a:ext cx="1389888" cy="914400"/>
          </a:xfrm>
          <a:prstGeom prst="roundRect">
            <a:avLst/>
          </a:prstGeom>
          <a:solidFill>
            <a:srgbClr val="007D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158191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Cypher
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207568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Traversal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1856231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1508760"/>
            <a:ext cx="1389888" cy="914400"/>
          </a:xfrm>
          <a:prstGeom prst="roundRect">
            <a:avLst/>
          </a:prstGeom>
          <a:solidFill>
            <a:srgbClr val="007D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158191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Subgraph
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07568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Assembly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3" y="1856231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38944" y="1508760"/>
            <a:ext cx="1389888" cy="914400"/>
          </a:xfrm>
          <a:prstGeom prst="roundRect">
            <a:avLst/>
          </a:prstGeom>
          <a:solidFill>
            <a:srgbClr val="B9620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38944" y="158191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Groq
Llama 3.3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8944" y="207568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</a:rPr>
              <a:t>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27432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Knowledge Graph Schema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3108960"/>
            <a:ext cx="7132320" cy="338328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3108960"/>
            <a:ext cx="7132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Entity Types (8)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639312"/>
            <a:ext cx="3200400" cy="475488"/>
          </a:xfrm>
          <a:prstGeom prst="roundRect">
            <a:avLst/>
          </a:prstGeom>
          <a:solidFill>
            <a:srgbClr val="052018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63931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Regulation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297680"/>
            <a:ext cx="3200400" cy="475488"/>
          </a:xfrm>
          <a:prstGeom prst="roundRect">
            <a:avLst/>
          </a:prstGeom>
          <a:solidFill>
            <a:srgbClr val="052018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297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Article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956048"/>
            <a:ext cx="3200400" cy="475488"/>
          </a:xfrm>
          <a:prstGeom prst="roundRect">
            <a:avLst/>
          </a:prstGeom>
          <a:solidFill>
            <a:srgbClr val="052018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95604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Product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614416"/>
            <a:ext cx="3200400" cy="475488"/>
          </a:xfrm>
          <a:prstGeom prst="roundRect">
            <a:avLst/>
          </a:prstGeom>
          <a:solidFill>
            <a:srgbClr val="052018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614416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Obligation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3360" y="3639312"/>
            <a:ext cx="3200400" cy="475488"/>
          </a:xfrm>
          <a:prstGeom prst="roundRect">
            <a:avLst/>
          </a:prstGeom>
          <a:solidFill>
            <a:srgbClr val="052018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0" y="363931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Role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23360" y="4297680"/>
            <a:ext cx="3200400" cy="475488"/>
          </a:xfrm>
          <a:prstGeom prst="roundRect">
            <a:avLst/>
          </a:prstGeom>
          <a:solidFill>
            <a:srgbClr val="052018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3360" y="4297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Risk Category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23360" y="4956048"/>
            <a:ext cx="3200400" cy="475488"/>
          </a:xfrm>
          <a:prstGeom prst="roundRect">
            <a:avLst/>
          </a:prstGeom>
          <a:solidFill>
            <a:srgbClr val="052018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0" y="495604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Threshold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23360" y="5614416"/>
            <a:ext cx="3200400" cy="475488"/>
          </a:xfrm>
          <a:prstGeom prst="roundRect">
            <a:avLst/>
          </a:prstGeom>
          <a:solidFill>
            <a:srgbClr val="052018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0" y="5614416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Date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54112" y="3108960"/>
            <a:ext cx="4023360" cy="338328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54112" y="3108960"/>
            <a:ext cx="40233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36992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Relationship Types (6)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36992" y="3639312"/>
            <a:ext cx="3566160" cy="384048"/>
          </a:xfrm>
          <a:prstGeom prst="roundRect">
            <a:avLst/>
          </a:prstGeom>
          <a:solidFill>
            <a:srgbClr val="031410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36992" y="36393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GOVERNS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36992" y="4123944"/>
            <a:ext cx="3566160" cy="384048"/>
          </a:xfrm>
          <a:prstGeom prst="roundRect">
            <a:avLst/>
          </a:prstGeom>
          <a:solidFill>
            <a:srgbClr val="031410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36992" y="412394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REQUIRES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36992" y="4608576"/>
            <a:ext cx="3566160" cy="384048"/>
          </a:xfrm>
          <a:prstGeom prst="roundRect">
            <a:avLst/>
          </a:prstGeom>
          <a:solidFill>
            <a:srgbClr val="031410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36992" y="460857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APPLIES TO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936992" y="5093208"/>
            <a:ext cx="3566160" cy="384048"/>
          </a:xfrm>
          <a:prstGeom prst="roundRect">
            <a:avLst/>
          </a:prstGeom>
          <a:solidFill>
            <a:srgbClr val="031410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36992" y="509320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REFERENCES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36992" y="5577840"/>
            <a:ext cx="3566160" cy="384048"/>
          </a:xfrm>
          <a:prstGeom prst="roundRect">
            <a:avLst/>
          </a:prstGeom>
          <a:solidFill>
            <a:srgbClr val="031410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36992" y="55778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SUPERSEDES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36992" y="6062472"/>
            <a:ext cx="3566160" cy="384048"/>
          </a:xfrm>
          <a:prstGeom prst="roundRect">
            <a:avLst/>
          </a:prstGeom>
          <a:solidFill>
            <a:srgbClr val="031410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36992" y="60624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EXEMPTS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1480" y="6217920"/>
            <a:ext cx="11365992" cy="457200"/>
          </a:xfrm>
          <a:prstGeom prst="roundRect">
            <a:avLst/>
          </a:prstGeom>
          <a:solidFill>
            <a:srgbClr val="0520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Mid-term to final: relationship density increased from 22 to 847 (38.5x improvement), enabling genuine multi-hop reasoning across the corpus.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0" y="457200"/>
            <a:ext cx="7772400" cy="6217920"/>
          </a:xfrm>
          <a:prstGeom prst="ellipse">
            <a:avLst/>
          </a:prstGeom>
          <a:solidFill>
            <a:srgbClr val="00308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</a:rPr>
              <a:t>75 annotated query pairs  ·  June 2026  ·  GPT-4o independent judge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2697480" cy="420624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2697480" cy="6400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B9EFF"/>
                </a:solidFill>
              </a:rPr>
              <a:t>+21pp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9067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accuracy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84448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on multi-hop relational queries (Tier 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234440"/>
            <a:ext cx="2697480" cy="420624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23444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08760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10B981"/>
                </a:solidFill>
              </a:rPr>
              <a:t>57%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09067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reduction in 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3584448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Graph RAG 9% vs Traditional RAG 21%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234440"/>
            <a:ext cx="2697480" cy="420624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1234440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508760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59E0B"/>
                </a:solidFill>
              </a:rPr>
              <a:t>52/75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309067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queries won by Graph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584448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69% win rate across all complexity tiers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44584" y="1234440"/>
            <a:ext cx="2697480" cy="420624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44584" y="1234440"/>
            <a:ext cx="2697480" cy="6400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1508760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3799F6"/>
                </a:solidFill>
              </a:rPr>
              <a:t>2.3s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09067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Traditional RAG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584448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Graph RAG adds only 0.8s overhead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Full Benchmark Results  (n=75, GPT-4o Judge)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868680"/>
            <a:ext cx="3474720" cy="457200"/>
          </a:xfrm>
          <a:prstGeom prst="roundRect">
            <a:avLst/>
          </a:prstGeom>
          <a:solidFill>
            <a:srgbClr val="002054"/>
          </a:solidFill>
          <a:ln w="10160"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868680"/>
            <a:ext cx="2560320" cy="457200"/>
          </a:xfrm>
          <a:prstGeom prst="roundRect">
            <a:avLst/>
          </a:prstGeom>
          <a:solidFill>
            <a:srgbClr val="002054"/>
          </a:solidFill>
          <a:ln w="10160"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868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Traditional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868680"/>
            <a:ext cx="2560320" cy="457200"/>
          </a:xfrm>
          <a:prstGeom prst="roundRect">
            <a:avLst/>
          </a:prstGeom>
          <a:solidFill>
            <a:srgbClr val="002054"/>
          </a:solidFill>
          <a:ln w="10160"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868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Graph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868680"/>
            <a:ext cx="1828800" cy="457200"/>
          </a:xfrm>
          <a:prstGeom prst="roundRect">
            <a:avLst/>
          </a:prstGeom>
          <a:solidFill>
            <a:srgbClr val="002054"/>
          </a:solidFill>
          <a:ln w="10160"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868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389888"/>
            <a:ext cx="347472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89888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389888"/>
            <a:ext cx="256032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389888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799F6"/>
                </a:solidFill>
              </a:rPr>
              <a:t>79%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389888"/>
            <a:ext cx="256032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389888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87%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389888"/>
            <a:ext cx="182880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389888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+8 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011680"/>
            <a:ext cx="347472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011680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Faithfulness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2011680"/>
            <a:ext cx="256032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201168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799F6"/>
                </a:solidFill>
              </a:rPr>
              <a:t>82%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2011680"/>
            <a:ext cx="256032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01168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91%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2011680"/>
            <a:ext cx="182880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011680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+9 pp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633472"/>
            <a:ext cx="347472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33472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Source Citation Quality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2633472"/>
            <a:ext cx="256032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2633472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799F6"/>
                </a:solidFill>
              </a:rPr>
              <a:t>74%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2633472"/>
            <a:ext cx="256032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633472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88%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2633472"/>
            <a:ext cx="182880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2633472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+14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255264"/>
            <a:ext cx="347472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255264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Answer Quality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6200" y="3255264"/>
            <a:ext cx="256032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3255264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799F6"/>
                </a:solidFill>
              </a:rPr>
              <a:t>81%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3255264"/>
            <a:ext cx="256032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255264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89%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255264"/>
            <a:ext cx="182880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32552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+8 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877056"/>
            <a:ext cx="347472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87705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Hallucination Risk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86200" y="3877056"/>
            <a:ext cx="256032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86200" y="3877056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799F6"/>
                </a:solidFill>
              </a:rPr>
              <a:t>21%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46520" y="3877056"/>
            <a:ext cx="256032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877056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9%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06840" y="3877056"/>
            <a:ext cx="1828800" cy="576072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3877056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−57%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4498848"/>
            <a:ext cx="347472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498848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Average Latency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86200" y="4498848"/>
            <a:ext cx="256032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86200" y="4498848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799F6"/>
                </a:solidFill>
              </a:rPr>
              <a:t>2.3s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4498848"/>
            <a:ext cx="256032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4498848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F4444"/>
                </a:solidFill>
              </a:rPr>
              <a:t>3.1s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06840" y="4498848"/>
            <a:ext cx="1828800" cy="576072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4498848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+0.8s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806440"/>
            <a:ext cx="11365992" cy="749808"/>
          </a:xfrm>
          <a:prstGeom prst="roundRect">
            <a:avLst/>
          </a:prstGeom>
          <a:solidFill>
            <a:srgbClr val="03122A"/>
          </a:solidFill>
          <a:ln w="12700"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8704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Overall: Graph RAG wins 52/75 queries (69%)   ·   Traditional RAG wins 18/75 (24%)   ·   5 ties (7%)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Key Insight: Accuracy Gap Grows with Query Complexity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4980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Both architectures start at near-parity on simple factual queries. The gap widens dramatically as queries require multi-hop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7772400" cy="475488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394960"/>
            <a:ext cx="7223760" cy="4572"/>
          </a:xfrm>
          <a:prstGeom prst="rect">
            <a:avLst/>
          </a:prstGeom>
          <a:solidFill>
            <a:srgbClr val="13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4155"/>
                </a:solidFill>
              </a:rPr>
              <a:t>0%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80560"/>
            <a:ext cx="7223760" cy="4572"/>
          </a:xfrm>
          <a:prstGeom prst="rect">
            <a:avLst/>
          </a:prstGeom>
          <a:solidFill>
            <a:srgbClr val="13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4155"/>
                </a:solidFill>
              </a:rPr>
              <a:t>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566160"/>
            <a:ext cx="7223760" cy="4572"/>
          </a:xfrm>
          <a:prstGeom prst="rect">
            <a:avLst/>
          </a:prstGeom>
          <a:solidFill>
            <a:srgbClr val="13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4155"/>
                </a:solidFill>
              </a:rPr>
              <a:t>50%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51760"/>
            <a:ext cx="7223760" cy="4572"/>
          </a:xfrm>
          <a:prstGeom prst="rect">
            <a:avLst/>
          </a:prstGeom>
          <a:solidFill>
            <a:srgbClr val="13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4155"/>
                </a:solidFill>
              </a:rPr>
              <a:t>75%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737360"/>
            <a:ext cx="7223760" cy="4572"/>
          </a:xfrm>
          <a:prstGeom prst="rect">
            <a:avLst/>
          </a:prstGeom>
          <a:solidFill>
            <a:srgbClr val="13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4155"/>
                </a:solidFill>
              </a:rPr>
              <a:t>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066544"/>
            <a:ext cx="548640" cy="3328416"/>
          </a:xfrm>
          <a:prstGeom prst="round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7739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799F6"/>
                </a:solidFill>
              </a:rPr>
              <a:t>91%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36192" y="2139696"/>
            <a:ext cx="548640" cy="32552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1847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89%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46811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Tier 1
Simple Factual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07208" y="2322576"/>
            <a:ext cx="548640" cy="3072384"/>
          </a:xfrm>
          <a:prstGeom prst="round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7208" y="2029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799F6"/>
                </a:solidFill>
              </a:rPr>
              <a:t>84%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2103120"/>
            <a:ext cx="548640" cy="3291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18105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79" y="546811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Tier 2
Single-hop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0016" y="2907792"/>
            <a:ext cx="548640" cy="2487168"/>
          </a:xfrm>
          <a:prstGeom prst="round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26151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799F6"/>
                </a:solidFill>
              </a:rPr>
              <a:t>68%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21807" y="2139696"/>
            <a:ext cx="548640" cy="32552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21807" y="1847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89%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546811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Tier 3
Multi-hop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54296" y="1682496"/>
            <a:ext cx="1691640" cy="347472"/>
          </a:xfrm>
          <a:prstGeom prst="roundRect">
            <a:avLst/>
          </a:prstGeom>
          <a:solidFill>
            <a:srgbClr val="0520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4296" y="168249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+21pp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92823" y="2798064"/>
            <a:ext cx="548640" cy="2596896"/>
          </a:xfrm>
          <a:prstGeom prst="round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3" y="25054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799F6"/>
                </a:solidFill>
              </a:rPr>
              <a:t>71%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14615" y="2468880"/>
            <a:ext cx="548640" cy="2926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14615" y="21762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80%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5" y="546811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Tier 4
Adversarial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623559"/>
            <a:ext cx="1463040" cy="292608"/>
          </a:xfrm>
          <a:prstGeom prst="round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559612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99F6"/>
                </a:solidFill>
              </a:rPr>
              <a:t>Traditional RAG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0" y="5623559"/>
            <a:ext cx="14630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559612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Graph RAG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1280160"/>
            <a:ext cx="3383280" cy="475488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2480" y="1280160"/>
            <a:ext cx="338328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Key Insights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1920240"/>
            <a:ext cx="45720" cy="74980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</a:rPr>
              <a:t>Tier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22219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Near-parity — both work well for simple factual lookups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2926080"/>
            <a:ext cx="45720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3252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Tier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322783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+6pp advantage as single relationships emerge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3931920"/>
            <a:ext cx="45720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Tier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42336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+21pp as multi-hop reasoning becomes critical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95360" y="4937760"/>
            <a:ext cx="45720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32520" y="4937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Tier 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52395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+9pp — Graph RAG resists adversarial hallucination better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Head to Head: When Each Architecture Wins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822960"/>
            <a:ext cx="5577840" cy="534924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822960"/>
            <a:ext cx="5577840" cy="73152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99F6"/>
                </a:solidFill>
              </a:rPr>
              <a:t>Traditional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2926080" cy="365760"/>
          </a:xfrm>
          <a:prstGeom prst="roundRect">
            <a:avLst/>
          </a:prstGeom>
          <a:solidFill>
            <a:srgbClr val="0049A6"/>
          </a:solidFill>
          <a:ln w="1016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799F6"/>
                </a:solidFill>
              </a:rPr>
              <a:t>Wins 18/75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93392"/>
            <a:ext cx="5212080" cy="68580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93392"/>
            <a:ext cx="41148" cy="685800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654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Tier 1 simple factual queries (91% accuracy, near-parity with Graph RAG)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16352"/>
            <a:ext cx="5212080" cy="68580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816352"/>
            <a:ext cx="41148" cy="685800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950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Latency-critical workflows: 2.3s average vs 3.1s for Graph 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39312"/>
            <a:ext cx="5212080" cy="68580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639312"/>
            <a:ext cx="41148" cy="685800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1246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Frequently updated corpora where graph maintenance adds operational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462272"/>
            <a:ext cx="5212080" cy="68580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462272"/>
            <a:ext cx="41148" cy="685800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3542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High-volume customer FAQ and product information lookups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285232"/>
            <a:ext cx="5212080" cy="68580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285232"/>
            <a:ext cx="41148" cy="685800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5838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Infrastructure-constrained environments without a Neo4j instance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822960"/>
            <a:ext cx="5577840" cy="534924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822960"/>
            <a:ext cx="5577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96012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Graph RAG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481328"/>
            <a:ext cx="2926080" cy="365760"/>
          </a:xfrm>
          <a:prstGeom prst="roundRect">
            <a:avLst/>
          </a:prstGeom>
          <a:solidFill>
            <a:srgbClr val="00693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</a:rPr>
              <a:t>Wins 52/75 queries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1993392"/>
            <a:ext cx="5212080" cy="68580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60" y="1993392"/>
            <a:ext cx="4114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06654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Tier 3 multi-hop relational queries: +21 percentage point accuracy advantage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2816352"/>
            <a:ext cx="5212080" cy="68580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37960" y="2816352"/>
            <a:ext cx="4114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88950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Compliance-critical workflows where hallucination risk must be minimised (9% vs 21%)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3639312"/>
            <a:ext cx="5212080" cy="68580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37960" y="3639312"/>
            <a:ext cx="4114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71246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MiFID II explainability requirements: full traversal path logged per query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4462272"/>
            <a:ext cx="5212080" cy="68580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37960" y="4462272"/>
            <a:ext cx="4114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53542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Cross-framework queries spanning Basel III, MiFID II, GDPR, and AML simultaneously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5285232"/>
            <a:ext cx="5212080" cy="68580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37960" y="5285232"/>
            <a:ext cx="4114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35838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Regulatory audit preparation where source citation quality (88% vs 74%) is essential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Our Recommendation: Hybrid Query-Routing Architecture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4980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Neither architecture dominates across all query types. The optimal solution routes each query to the right pipeline based on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920240" cy="777240"/>
          </a:xfrm>
          <a:prstGeom prst="roundRect">
            <a:avLst/>
          </a:prstGeom>
          <a:solidFill>
            <a:srgbClr val="0C152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783080"/>
            <a:ext cx="2651760" cy="1234440"/>
          </a:xfrm>
          <a:prstGeom prst="roundRect">
            <a:avLst/>
          </a:prstGeom>
          <a:solidFill>
            <a:srgbClr val="0C15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783080"/>
            <a:ext cx="26517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9019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Query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042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BERT fine-tuned
&lt;100ms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508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0B981"/>
                </a:solidFill>
              </a:rPr>
              <a:t>▲ Tier 2-4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633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799F6"/>
                </a:solidFill>
              </a:rPr>
              <a:t>▼ Tier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097280"/>
            <a:ext cx="2926080" cy="1051560"/>
          </a:xfrm>
          <a:prstGeom prst="roundRect">
            <a:avLst/>
          </a:prstGeom>
          <a:solidFill>
            <a:srgbClr val="03181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1521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Graph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5361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</a:rPr>
              <a:t>Multi-hop · Explainable
Audit trail · Low hallucination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633472"/>
            <a:ext cx="2926080" cy="1051560"/>
          </a:xfrm>
          <a:prstGeom prst="roundRect">
            <a:avLst/>
          </a:prstGeom>
          <a:solidFill>
            <a:srgbClr val="030E28"/>
          </a:solidFill>
          <a:ln w="1905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68833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799F6"/>
                </a:solidFill>
              </a:rPr>
              <a:t>Traditional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07238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99F6"/>
                </a:solidFill>
              </a:rPr>
              <a:t>Fast · Simple · Tier 1
Sub-2.3s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212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2011680"/>
            <a:ext cx="2468880" cy="777240"/>
          </a:xfrm>
          <a:prstGeom prst="roundRect">
            <a:avLst/>
          </a:prstGeom>
          <a:solidFill>
            <a:srgbClr val="0C152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011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Answer + Audit Trail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160520"/>
            <a:ext cx="3657600" cy="201168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160520"/>
            <a:ext cx="365760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343400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0B981"/>
                </a:solidFill>
              </a:rPr>
              <a:t>94%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3892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of Graph RAG's accuracy benefit captured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160520"/>
            <a:ext cx="3657600" cy="201168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160520"/>
            <a:ext cx="3657600" cy="59436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343400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799F6"/>
                </a:solidFill>
              </a:rPr>
              <a:t>~2.5s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13892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average latency across the full query mix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19" y="4160520"/>
            <a:ext cx="3657600" cy="201168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19" y="4160520"/>
            <a:ext cx="365760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19" y="4343400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59E0B"/>
                </a:solidFill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13892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compliance queries routed to Graph RAG always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GDPR and Regulatory Compliance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822960"/>
            <a:ext cx="3017520" cy="411480"/>
          </a:xfrm>
          <a:prstGeom prst="roundRect">
            <a:avLst/>
          </a:prstGeom>
          <a:solidFill>
            <a:srgbClr val="002054"/>
          </a:solidFill>
          <a:ln w="10160"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Compliance Dimension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822960"/>
            <a:ext cx="3840480" cy="411480"/>
          </a:xfrm>
          <a:prstGeom prst="roundRect">
            <a:avLst/>
          </a:prstGeom>
          <a:solidFill>
            <a:srgbClr val="002054"/>
          </a:solidFill>
          <a:ln w="10160"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822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Traditional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822960"/>
            <a:ext cx="3840480" cy="411480"/>
          </a:xfrm>
          <a:prstGeom prst="roundRect">
            <a:avLst/>
          </a:prstGeom>
          <a:solidFill>
            <a:srgbClr val="002054"/>
          </a:solidFill>
          <a:ln w="10160"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822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Graph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298448"/>
            <a:ext cx="3017520" cy="694944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408176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4A3B8"/>
                </a:solidFill>
              </a:rPr>
              <a:t>Data Minimisation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298448"/>
            <a:ext cx="3840480" cy="694944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389888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Compliant — top-k chunks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298448"/>
            <a:ext cx="3840480" cy="694944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1389888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Requires scope-limited traversal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048255"/>
            <a:ext cx="3017520" cy="694944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157984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4A3B8"/>
                </a:solidFill>
              </a:rPr>
              <a:t>MiFID II Explainability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048255"/>
            <a:ext cx="3840480" cy="694944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2139696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Limited — no reasoning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2048255"/>
            <a:ext cx="3840480" cy="694944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139696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Full traversal path logged per query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798063"/>
            <a:ext cx="3017520" cy="694944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2907791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4A3B8"/>
                </a:solidFill>
              </a:rPr>
              <a:t>Right to Erasure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2798063"/>
            <a:ext cx="3840480" cy="694944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2889503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Simple — delete chunk from vector 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2798063"/>
            <a:ext cx="3840480" cy="694944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889503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Complex — cascading node deletion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547872"/>
            <a:ext cx="3017520" cy="694944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3657600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4A3B8"/>
                </a:solidFill>
              </a:rPr>
              <a:t>Audit Trail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40" y="3547872"/>
            <a:ext cx="3840480" cy="694944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639312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Weak — no explicit reasoning 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3547872"/>
            <a:ext cx="3840480" cy="694944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3639312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Strong — node/edge provenance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4297679"/>
            <a:ext cx="3017520" cy="694944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" y="4407407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4A3B8"/>
                </a:solidFill>
              </a:rPr>
              <a:t>Access Control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20440" y="4297679"/>
            <a:ext cx="3840480" cy="694944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11880" y="4389119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Collection-level RBAC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52360" y="4297679"/>
            <a:ext cx="3840480" cy="694944"/>
          </a:xfrm>
          <a:prstGeom prst="roundRect">
            <a:avLst/>
          </a:prstGeom>
          <a:solidFill>
            <a:srgbClr val="0C1526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4389119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Edge/path-level RBAC required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5047488"/>
            <a:ext cx="3017520" cy="694944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" y="5157216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4A3B8"/>
                </a:solidFill>
              </a:rPr>
              <a:t>Hallucination Risk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40" y="5047488"/>
            <a:ext cx="3840480" cy="694944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1880" y="5138927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Medium (21%)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52360" y="5047488"/>
            <a:ext cx="3840480" cy="694944"/>
          </a:xfrm>
          <a:prstGeom prst="roundRect">
            <a:avLst/>
          </a:prstGeom>
          <a:solidFill>
            <a:srgbClr val="0A1222"/>
          </a:solidFill>
          <a:ln w="381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3800" y="5138927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Low (9%) — 57% reduction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5925312"/>
            <a:ext cx="11365992" cy="658368"/>
          </a:xfrm>
          <a:prstGeom prst="roundRect">
            <a:avLst/>
          </a:prstGeom>
          <a:solidFill>
            <a:srgbClr val="031028"/>
          </a:solidFill>
          <a:ln w="12700"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99846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EFF"/>
                </a:solidFill>
              </a:rPr>
              <a:t>Before production deployment: implement cascading deletion for Graph RAG, add edge/path-level RBAC, and restrict graph inference on sensitive attributes.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Deployment Roadmap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63240" y="1901952"/>
            <a:ext cx="292608" cy="6400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16916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841248"/>
            <a:ext cx="1920239" cy="384048"/>
          </a:xfrm>
          <a:prstGeom prst="roundRect">
            <a:avLst/>
          </a:prstGeom>
          <a:solidFill>
            <a:srgbClr val="0049A6"/>
          </a:solidFill>
          <a:ln w="12700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841248"/>
            <a:ext cx="1920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99F6"/>
                </a:solidFill>
              </a:rPr>
              <a:t>Q3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98448"/>
            <a:ext cx="2651760" cy="489204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2651760" cy="6400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246887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99F6"/>
                </a:solidFill>
              </a:rPr>
              <a:t>Phase 1
Traditional 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04288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41148" cy="1005840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41448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Deploy vector RAG for internal FAQ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" cy="1005840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611879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Collect live query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45152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645152"/>
            <a:ext cx="41148" cy="1005840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782312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Train complexity classifier 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7608" y="1901952"/>
            <a:ext cx="292608" cy="6400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6916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841248"/>
            <a:ext cx="1920239" cy="384048"/>
          </a:xfrm>
          <a:prstGeom prst="roundRect">
            <a:avLst/>
          </a:prstGeom>
          <a:solidFill>
            <a:srgbClr val="0069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841248"/>
            <a:ext cx="1920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Q4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5848" y="1298448"/>
            <a:ext cx="2651760" cy="489204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55848" y="1298448"/>
            <a:ext cx="26517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1417320"/>
            <a:ext cx="246887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Phase 2
Graph RAG (Compliance)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93008" y="2304288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93008" y="2304288"/>
            <a:ext cx="4114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2441448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Deploy Graph RAG for compliance officers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3008" y="3474720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93008" y="3474720"/>
            <a:ext cx="4114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611879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MiFID II suitability queries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93008" y="4645152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93008" y="4645152"/>
            <a:ext cx="4114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80" y="4782312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AML EDD decision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51976" y="1901952"/>
            <a:ext cx="292608" cy="6400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97696" y="16916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155"/>
                </a:solidFill>
              </a:rPr>
              <a:t>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5976" y="841248"/>
            <a:ext cx="1920239" cy="384048"/>
          </a:xfrm>
          <a:prstGeom prst="roundRect">
            <a:avLst/>
          </a:prstGeom>
          <a:solidFill>
            <a:srgbClr val="001DAF"/>
          </a:solidFill>
          <a:ln w="12700"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5976" y="841248"/>
            <a:ext cx="1920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DFF"/>
                </a:solidFill>
              </a:rPr>
              <a:t>Q1 2027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0216" y="1298448"/>
            <a:ext cx="2651760" cy="489204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0216" y="1298448"/>
            <a:ext cx="2651760" cy="6400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7376" y="1417320"/>
            <a:ext cx="246887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DFF"/>
                </a:solidFill>
              </a:rPr>
              <a:t>Phase 3
Hybrid Routing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37376" y="2304288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7376" y="2304288"/>
            <a:ext cx="41148" cy="100584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56248" y="2441448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Launch BERT query classifier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7376" y="3474720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37376" y="3474720"/>
            <a:ext cx="41148" cy="100584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6248" y="3611879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Unified API layer for both pipelines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37376" y="4645152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37376" y="4645152"/>
            <a:ext cx="41148" cy="100584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6248" y="4782312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Measure live latency vs accuracy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10344" y="841248"/>
            <a:ext cx="1920239" cy="384048"/>
          </a:xfrm>
          <a:prstGeom prst="roundRect">
            <a:avLst/>
          </a:prstGeom>
          <a:solidFill>
            <a:srgbClr val="A54E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10344" y="841248"/>
            <a:ext cx="1920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Q2 2027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44584" y="1298448"/>
            <a:ext cx="2651760" cy="4892040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44584" y="1298448"/>
            <a:ext cx="26517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81744" y="1417320"/>
            <a:ext cx="246887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Phase 4
Expand Corpus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81744" y="2304288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81744" y="2304288"/>
            <a:ext cx="4114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0615" y="2441448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Spanish regulatory documents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81744" y="3474720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81744" y="3474720"/>
            <a:ext cx="4114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0615" y="3611879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Banco de Espana circulars, CNMV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81744" y="4645152"/>
            <a:ext cx="2377440" cy="1005840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81744" y="4645152"/>
            <a:ext cx="4114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0615" y="4782312"/>
            <a:ext cx="2212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DORA and EU AI Act analysis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Research Methodology: Corpus and Evaluation Design</a:t>
            </a:r>
          </a:p>
        </p:txBody>
      </p:sp>
      <p:pic>
        <p:nvPicPr>
          <p:cNvPr id="4" name="Picture 3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4864"/>
            <a:ext cx="1920240" cy="4378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841248"/>
            <a:ext cx="5623560" cy="5742432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841248"/>
            <a:ext cx="5623560" cy="59436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1440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DFF"/>
                </a:solidFill>
              </a:rPr>
              <a:t>Corpus: 9 Documents, ~750 Pages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63040"/>
            <a:ext cx="411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2646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EBA AML/CFT Guidelines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426464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87 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11680"/>
            <a:ext cx="41148" cy="38404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7510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BIS Basel III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975104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99F6"/>
                </a:solidFill>
              </a:rPr>
              <a:t>63 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60320"/>
            <a:ext cx="41148" cy="38404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237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MiFID II Directive 2014/65/EU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523744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99F6"/>
                </a:solidFill>
              </a:rPr>
              <a:t>90 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08960"/>
            <a:ext cx="41148" cy="384048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7238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GDPR Regulation 2016/679/EU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072384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99F6"/>
                </a:solidFill>
              </a:rPr>
              <a:t>54 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657600"/>
            <a:ext cx="41148" cy="38404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6210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Banc Sabadell Pillar III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621024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6DFF"/>
                </a:solidFill>
              </a:rPr>
              <a:t>210 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206240"/>
            <a:ext cx="41148" cy="38404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69663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Banc Sabadell Annual Report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169663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6DFF"/>
                </a:solidFill>
              </a:rPr>
              <a:t>~350 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754879"/>
            <a:ext cx="41148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718303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EBA AML sample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718303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34155"/>
                </a:solidFill>
              </a:rPr>
              <a:t>15 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303520"/>
            <a:ext cx="41148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2669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Basel III sample 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266944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34155"/>
                </a:solidFill>
              </a:rPr>
              <a:t>12 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852160"/>
            <a:ext cx="41148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81558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GDPR Banking sample 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815584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34155"/>
                </a:solidFill>
              </a:rPr>
              <a:t>14 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841248"/>
            <a:ext cx="5577840" cy="5742432"/>
          </a:xfrm>
          <a:prstGeom prst="roundRect">
            <a:avLst/>
          </a:prstGeom>
          <a:solidFill>
            <a:srgbClr val="0C1526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9632" y="841248"/>
            <a:ext cx="55778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9144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Evaluation: 75 Annotated Pairs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2512" y="1389888"/>
            <a:ext cx="5212080" cy="1078992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82512" y="1389888"/>
            <a:ext cx="50292" cy="1078992"/>
          </a:xfrm>
          <a:prstGeom prst="rect">
            <a:avLst/>
          </a:prstGeom>
          <a:solidFill>
            <a:srgbClr val="379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14447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99F6"/>
                </a:solidFill>
              </a:rPr>
              <a:t>Tier 1: Simple Factual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18653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n=20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166420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Single-document lookups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2512" y="2624328"/>
            <a:ext cx="5212080" cy="1078992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82512" y="2624328"/>
            <a:ext cx="50292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2679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Tier 2: Single-hop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0998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n=20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289864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Two linked entities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82512" y="3858768"/>
            <a:ext cx="5212080" cy="1078992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82512" y="3858768"/>
            <a:ext cx="50292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9136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Tier 3: Multi-hop Relational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3342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n=20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13308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Three or more entity hops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82512" y="5093208"/>
            <a:ext cx="5212080" cy="1078992"/>
          </a:xfrm>
          <a:prstGeom prst="roundRect">
            <a:avLst/>
          </a:prstGeom>
          <a:solidFill>
            <a:srgbClr val="070D1A"/>
          </a:solidFill>
          <a:ln w="6350">
            <a:solidFill>
              <a:srgbClr val="13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82512" y="5093208"/>
            <a:ext cx="50292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5148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Tier 4: Adversarial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5686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n=15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36752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Designed to elicit hallucination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6400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4155"/>
                </a:solidFill>
              </a:rPr>
              <a:t>20% of pairs cross-validated by GPT-4o as second annotator.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914400"/>
            <a:ext cx="5943600" cy="5486400"/>
          </a:xfrm>
          <a:prstGeom prst="ellipse">
            <a:avLst/>
          </a:prstGeom>
          <a:solidFill>
            <a:srgbClr val="003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badell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2487168" cy="5670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0" y="1115568"/>
            <a:ext cx="5788152" cy="457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61872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Thank You</a:t>
            </a:r>
          </a:p>
          <a:p>
            <a:pPr algn="ctr">
              <a:spcBef>
                <a:spcPts val="800"/>
              </a:spcBef>
            </a:pPr>
            <a:r>
              <a:rPr sz="2800" b="0">
                <a:solidFill>
                  <a:srgbClr val="3B9EFF"/>
                </a:solidFill>
              </a:rPr>
              <a:t>Questions?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926080"/>
            <a:ext cx="8531352" cy="4572"/>
          </a:xfrm>
          <a:prstGeom prst="rect">
            <a:avLst/>
          </a:prstGeom>
          <a:solidFill>
            <a:srgbClr val="13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200400"/>
            <a:ext cx="1005840" cy="1005840"/>
          </a:xfrm>
          <a:prstGeom prst="ellipse">
            <a:avLst/>
          </a:prstGeom>
          <a:solidFill>
            <a:srgbClr val="0C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2004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6DFF"/>
                </a:solidFill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Mohamed Aymen
Elmezouari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194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Team Lead / AI Architecture</a:t>
            </a:r>
          </a:p>
        </p:txBody>
      </p:sp>
      <p:sp>
        <p:nvSpPr>
          <p:cNvPr id="13" name="Oval 12"/>
          <p:cNvSpPr/>
          <p:nvPr/>
        </p:nvSpPr>
        <p:spPr>
          <a:xfrm>
            <a:off x="5074920" y="3200400"/>
            <a:ext cx="1005840" cy="1005840"/>
          </a:xfrm>
          <a:prstGeom prst="ellipse">
            <a:avLst/>
          </a:prstGeom>
          <a:solidFill>
            <a:srgbClr val="0C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32004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6DFF"/>
                </a:solidFill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343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Abhay
Mathahalli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9194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Knowledge Graph / Graph RAG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0" y="3200400"/>
            <a:ext cx="1005840" cy="1005840"/>
          </a:xfrm>
          <a:prstGeom prst="ellipse">
            <a:avLst/>
          </a:prstGeom>
          <a:solidFill>
            <a:srgbClr val="0C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2004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6DFF"/>
                </a:solidFill>
              </a:rPr>
              <a:t>WL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343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Warren
Liu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194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Evaluation /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532120"/>
            <a:ext cx="8531352" cy="4572"/>
          </a:xfrm>
          <a:prstGeom prst="rect">
            <a:avLst/>
          </a:prstGeom>
          <a:solidFill>
            <a:srgbClr val="13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</a:rPr>
              <a:t>ESADE Business School  |  Banc Sabadell Capstone 2026  |  June 2026</a:t>
            </a:r>
          </a:p>
          <a:p>
            <a:pPr algn="ctr">
              <a:spcBef>
                <a:spcPts val="500"/>
              </a:spcBef>
            </a:pPr>
            <a:r>
              <a:rPr sz="950" b="0">
                <a:solidFill>
                  <a:srgbClr val="1E3A6E"/>
                </a:solidFill>
              </a:rPr>
              <a:t>github.com/mohamedaymenelmezouari/rag-comparison-sabadell  |  rag-comparison-banc-sabadell.streamlit.app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